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y="7315200" cx="9753600"/>
  <p:notesSz cx="6858000" cy="9144000"/>
  <p:embeddedFontLst>
    <p:embeddedFont>
      <p:font typeface="Times New Roman" panose="02020603050405020304" charset="1"/>
      <p:regular r:id="rId19"/>
    </p:embeddedFont>
    <p:embeddedFont>
      <p:font typeface="Times New Roman Bold Italics" panose="02020703060505090304" charset="1"/>
      <p:regular r:id="rId20"/>
    </p:embeddedFont>
    <p:embeddedFont>
      <p:font typeface="Times New Roman Italics" panose="02020503050405090304" charset="1"/>
      <p:regular r:id="rId21"/>
    </p:embeddedFont>
    <p:embeddedFont>
      <p:font typeface="Times New Roman Bold" panose="02020803070505020304" charset="1"/>
      <p:regular r:id="rId22"/>
    </p:embeddedFont>
    <p:embeddedFont>
      <p:font typeface="Calibri (MS)" panose="020F0502020204030204" charset="1"/>
      <p:regular r:id="rId23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6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104876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77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877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7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0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0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0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r>
              <a:rPr lang="en-US"/>
              <a:t>1</a:t>
            </a:r>
            <a:endParaRPr lang="en-US" smtClean="0"/>
          </a:p>
        </p:txBody>
      </p:sp>
      <p:sp>
        <p:nvSpPr>
          <p:cNvPr id="104860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0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58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59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59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r>
              <a:rPr lang="en-US"/>
              <a:t>2</a:t>
            </a:r>
            <a:endParaRPr lang="en-US" smtClean="0"/>
          </a:p>
        </p:txBody>
      </p:sp>
      <p:sp>
        <p:nvSpPr>
          <p:cNvPr id="104859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59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5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3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3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 rot="0">
            <a:off x="-24117" y="12059"/>
            <a:ext cx="9777717" cy="7342289"/>
            <a:chOff x="0" y="0"/>
            <a:chExt cx="13036956" cy="9789719"/>
          </a:xfrm>
        </p:grpSpPr>
        <p:sp>
          <p:nvSpPr>
            <p:cNvPr id="1048601" name="Freeform 3"/>
            <p:cNvSpPr/>
            <p:nvPr/>
          </p:nvSpPr>
          <p:spPr>
            <a:xfrm rot="0" flipH="0" flipV="0">
              <a:off x="0" y="0"/>
              <a:ext cx="13036931" cy="9789668"/>
            </a:xfrm>
            <a:custGeom>
              <a:avLst/>
              <a:ahLst/>
              <a:rect l="l" t="t" r="r" b="b"/>
              <a:pathLst>
                <a:path w="13036931" h="9789668">
                  <a:moveTo>
                    <a:pt x="0" y="0"/>
                  </a:moveTo>
                  <a:lnTo>
                    <a:pt x="13036931" y="0"/>
                  </a:lnTo>
                  <a:lnTo>
                    <a:pt x="13036931" y="9789668"/>
                  </a:lnTo>
                  <a:lnTo>
                    <a:pt x="0" y="978966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42" name="Group 4"/>
          <p:cNvGrpSpPr/>
          <p:nvPr/>
        </p:nvGrpSpPr>
        <p:grpSpPr>
          <a:xfrm rot="0">
            <a:off x="169821" y="2697494"/>
            <a:ext cx="9389840" cy="2029619"/>
            <a:chOff x="0" y="0"/>
            <a:chExt cx="12519787" cy="2706158"/>
          </a:xfrm>
        </p:grpSpPr>
        <p:sp>
          <p:nvSpPr>
            <p:cNvPr id="1048602" name="Freeform 5"/>
            <p:cNvSpPr/>
            <p:nvPr/>
          </p:nvSpPr>
          <p:spPr>
            <a:xfrm rot="0" flipH="0" flipV="0">
              <a:off x="0" y="0"/>
              <a:ext cx="12519792" cy="2706161"/>
            </a:xfrm>
            <a:custGeom>
              <a:avLst/>
              <a:ahLst/>
              <a:rect l="l" t="t" r="r" b="b"/>
              <a:pathLst>
                <a:path w="12519792" h="2706161">
                  <a:moveTo>
                    <a:pt x="0" y="0"/>
                  </a:moveTo>
                  <a:lnTo>
                    <a:pt x="12519792" y="0"/>
                  </a:lnTo>
                  <a:lnTo>
                    <a:pt x="12519792" y="2706161"/>
                  </a:lnTo>
                  <a:lnTo>
                    <a:pt x="0" y="2706161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42840" r="0" b="-37450"/>
              </a:stretch>
            </a:blipFill>
          </p:spPr>
        </p:sp>
        <p:sp>
          <p:nvSpPr>
            <p:cNvPr id="1048603" name="TextBox 6"/>
            <p:cNvSpPr txBox="1"/>
            <p:nvPr/>
          </p:nvSpPr>
          <p:spPr>
            <a:xfrm>
              <a:off x="0" y="-19050"/>
              <a:ext cx="12519787" cy="272520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3071"/>
                </a:lnSpc>
              </a:pPr>
              <a:r>
                <a:rPr sz="2559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XAIVER INTERNATIONAL COLLEGE </a:t>
              </a:r>
            </a:p>
            <a:p>
              <a:pPr algn="ctr">
                <a:lnSpc>
                  <a:spcPts val="3071"/>
                </a:lnSpc>
              </a:pPr>
              <a:r>
                <a:rPr sz="2559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Boddha, Tusal</a:t>
              </a:r>
            </a:p>
            <a:p>
              <a:pPr algn="ctr">
                <a:lnSpc>
                  <a:spcPts val="3071"/>
                </a:lnSpc>
              </a:pPr>
              <a:r>
                <a:rPr sz="2559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DEPARMENT OF COMPUTER SCIENCE &amp; INFORMATION TECHNOLOGY</a:t>
              </a:r>
            </a:p>
            <a:p>
              <a:pPr algn="ctr">
                <a:lnSpc>
                  <a:spcPts val="3071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 rot="0" flipH="0" flipV="0">
            <a:off x="0" y="0"/>
            <a:ext cx="9753600" cy="7315200"/>
          </a:xfrm>
          <a:custGeom>
            <a:avLst/>
            <a:ah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0" r="0" b="0"/>
            </a:stretch>
          </a:blipFill>
        </p:spPr>
      </p:sp>
      <p:grpSp>
        <p:nvGrpSpPr>
          <p:cNvPr id="26" name="Group 3"/>
          <p:cNvGrpSpPr/>
          <p:nvPr/>
        </p:nvGrpSpPr>
        <p:grpSpPr>
          <a:xfrm rot="0">
            <a:off x="406403" y="243840"/>
            <a:ext cx="9005030" cy="2708818"/>
            <a:chOff x="0" y="0"/>
            <a:chExt cx="12006707" cy="3611758"/>
          </a:xfrm>
        </p:grpSpPr>
        <p:sp>
          <p:nvSpPr>
            <p:cNvPr id="1048585" name="Freeform 4"/>
            <p:cNvSpPr/>
            <p:nvPr/>
          </p:nvSpPr>
          <p:spPr>
            <a:xfrm rot="0" flipH="0" flipV="0">
              <a:off x="0" y="0"/>
              <a:ext cx="12006707" cy="3611762"/>
            </a:xfrm>
            <a:custGeom>
              <a:avLst/>
              <a:ahLst/>
              <a:rect l="l" t="t" r="r" b="b"/>
              <a:pathLst>
                <a:path w="12006707" h="3611762">
                  <a:moveTo>
                    <a:pt x="0" y="0"/>
                  </a:moveTo>
                  <a:lnTo>
                    <a:pt x="12006707" y="0"/>
                  </a:lnTo>
                  <a:lnTo>
                    <a:pt x="12006707" y="3611762"/>
                  </a:lnTo>
                  <a:lnTo>
                    <a:pt x="0" y="3611762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4774" r="0" b="-14774"/>
              </a:stretch>
            </a:blipFill>
          </p:spPr>
        </p:sp>
        <p:sp>
          <p:nvSpPr>
            <p:cNvPr id="1048586" name="TextBox 5"/>
            <p:cNvSpPr txBox="1"/>
            <p:nvPr/>
          </p:nvSpPr>
          <p:spPr>
            <a:xfrm>
              <a:off x="0" y="-28575"/>
              <a:ext cx="12006707" cy="3640333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4608"/>
                </a:lnSpc>
              </a:pPr>
              <a:r>
                <a:rPr b="1" sz="3840" i="1" lang="en-US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Fitly </a:t>
              </a:r>
            </a:p>
            <a:p>
              <a:pPr algn="ctr">
                <a:lnSpc>
                  <a:spcPts val="3583"/>
                </a:lnSpc>
              </a:pPr>
              <a:r>
                <a:rPr sz="2986" i="1" lang="en-US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Exercise &amp; Meal Planning App</a:t>
              </a:r>
            </a:p>
          </p:txBody>
        </p:sp>
      </p:grpSp>
      <p:sp>
        <p:nvSpPr>
          <p:cNvPr id="1048587" name="TextBox 6"/>
          <p:cNvSpPr txBox="1"/>
          <p:nvPr/>
        </p:nvSpPr>
        <p:spPr>
          <a:xfrm rot="0">
            <a:off x="1026162" y="3937099"/>
            <a:ext cx="7701277" cy="297180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920"/>
              </a:lnSpc>
            </a:pPr>
            <a:r>
              <a:rPr b="1" sz="4100" lang="en-US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Submitted by: Anju Shrestha</a:t>
            </a:r>
          </a:p>
          <a:p>
            <a:pPr algn="ctr">
              <a:lnSpc>
                <a:spcPts val="3719"/>
              </a:lnSpc>
            </a:pPr>
            <a:r>
              <a:rPr b="1" sz="3099" lang="en-US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Roll no: 6-2-546-23-2021</a:t>
            </a:r>
          </a:p>
          <a:p>
            <a:pPr algn="ctr">
              <a:lnSpc>
                <a:spcPts val="4920"/>
              </a:lnSpc>
            </a:pPr>
            <a:r>
              <a:rPr b="1" sz="4100" lang="en-US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4920"/>
              </a:lnSpc>
            </a:pPr>
            <a:r>
              <a:rPr b="1" sz="4100" lang="en-US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supervised by: Roshan jha</a:t>
            </a:r>
          </a:p>
          <a:p>
            <a:pPr algn="ctr">
              <a:lnSpc>
                <a:spcPts val="49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594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37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595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38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596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597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List of Contents</a:t>
              </a:r>
            </a:p>
          </p:txBody>
        </p:sp>
      </p:grpSp>
      <p:sp>
        <p:nvSpPr>
          <p:cNvPr id="1048598" name="TextBox 9"/>
          <p:cNvSpPr txBox="1"/>
          <p:nvPr/>
        </p:nvSpPr>
        <p:spPr>
          <a:xfrm rot="0">
            <a:off x="579120" y="1050293"/>
            <a:ext cx="8514083" cy="5656071"/>
          </a:xfrm>
          <a:prstGeom prst="rect"/>
        </p:spPr>
        <p:txBody>
          <a:bodyPr anchor="t" bIns="0" lIns="0" rIns="0" rtlCol="0" tIns="0">
            <a:spAutoFit/>
          </a:bodyPr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Introduction and Type of project </a:t>
            </a:r>
          </a:p>
          <a:p>
            <a:pPr algn="l" indent="-82364" lvl="1" marL="164727">
              <a:lnSpc>
                <a:spcPts val="2304"/>
              </a:lnSpc>
            </a:pPr>
            <a:r>
              <a:rPr sz="1280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*Type of project means either website/mobile app/research based project</a:t>
            </a:r>
          </a:p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Objectives / Goals</a:t>
            </a:r>
          </a:p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Requirements</a:t>
            </a:r>
          </a:p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Project Design</a:t>
            </a:r>
          </a:p>
          <a:p>
            <a:pPr algn="l" indent="-197149" lvl="2" marL="591448">
              <a:lnSpc>
                <a:spcPts val="2304"/>
              </a:lnSpc>
              <a:buFont typeface="Arial"/>
              <a:buChar char="⚬"/>
            </a:pPr>
            <a:r>
              <a:rPr sz="1280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Conceptual / Logical Design</a:t>
            </a:r>
          </a:p>
          <a:p>
            <a:pPr algn="l" indent="-251109" lvl="3" marL="1004438">
              <a:lnSpc>
                <a:spcPts val="2111"/>
              </a:lnSpc>
              <a:buFont typeface="Arial"/>
              <a:buChar char="￭"/>
            </a:pPr>
            <a:r>
              <a:rPr sz="117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ERD, USE CASES</a:t>
            </a:r>
          </a:p>
          <a:p>
            <a:pPr algn="l" indent="-197149" lvl="2" marL="591448">
              <a:lnSpc>
                <a:spcPts val="2304"/>
              </a:lnSpc>
              <a:buFont typeface="Arial"/>
              <a:buChar char="⚬"/>
            </a:pPr>
            <a:r>
              <a:rPr sz="1280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Physical Design</a:t>
            </a:r>
          </a:p>
          <a:p>
            <a:pPr algn="l" indent="-251109" lvl="3" marL="1004438">
              <a:lnSpc>
                <a:spcPts val="2111"/>
              </a:lnSpc>
              <a:buFont typeface="Arial"/>
              <a:buChar char="￭"/>
            </a:pPr>
            <a:r>
              <a:rPr sz="117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Backend Design (Database)</a:t>
            </a:r>
          </a:p>
          <a:p>
            <a:pPr algn="l" indent="-206300" lvl="2" marL="618901">
              <a:lnSpc>
                <a:spcPts val="2687"/>
              </a:lnSpc>
              <a:buFont typeface="Arial"/>
              <a:buChar char="⚬"/>
            </a:pPr>
            <a:r>
              <a:rPr sz="149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Front End Design</a:t>
            </a:r>
          </a:p>
          <a:p>
            <a:pPr algn="l" indent="-254542" lvl="3" marL="1018169">
              <a:lnSpc>
                <a:spcPts val="2304"/>
              </a:lnSpc>
              <a:buFont typeface="Arial"/>
              <a:buChar char="￭"/>
            </a:pPr>
            <a:r>
              <a:rPr sz="1280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Tools</a:t>
            </a:r>
          </a:p>
          <a:p>
            <a:pPr algn="l" indent="-254542" lvl="3" marL="1018169">
              <a:lnSpc>
                <a:spcPts val="2304"/>
              </a:lnSpc>
              <a:buFont typeface="Arial"/>
              <a:buChar char="￭"/>
            </a:pPr>
            <a:r>
              <a:rPr sz="1280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Screen shorts of  your system</a:t>
            </a:r>
          </a:p>
          <a:p>
            <a:pPr algn="l" indent="-137228" lvl="1" marL="274455">
              <a:lnSpc>
                <a:spcPts val="383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Contributions (Achieved Objectives / Goals)</a:t>
            </a:r>
          </a:p>
          <a:p>
            <a:pPr algn="l" indent="-82364" lvl="1" marL="164727">
              <a:lnSpc>
                <a:spcPts val="2304"/>
              </a:lnSpc>
            </a:pPr>
          </a:p>
          <a:p>
            <a:pPr algn="l" indent="-82364" lvl="1" marL="164727">
              <a:lnSpc>
                <a:spcPts val="2304"/>
              </a:lnSpc>
            </a:pPr>
          </a:p>
          <a:p>
            <a:pPr algn="l" indent="-82364" lvl="1" marL="164727">
              <a:lnSpc>
                <a:spcPts val="2304"/>
              </a:lnSpc>
            </a:pPr>
          </a:p>
        </p:txBody>
      </p:sp>
      <p:grpSp>
        <p:nvGrpSpPr>
          <p:cNvPr id="39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599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00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10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47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11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48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12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13" name="TextBox 8"/>
            <p:cNvSpPr txBox="1"/>
            <p:nvPr/>
          </p:nvSpPr>
          <p:spPr>
            <a:xfrm>
              <a:off x="0" y="-257175"/>
              <a:ext cx="11216640" cy="1754403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7680"/>
                </a:lnSpc>
              </a:pPr>
              <a:r>
                <a:rPr sz="4266" i="1" lang="en-US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Introduction and Type of project </a:t>
              </a:r>
            </a:p>
          </p:txBody>
        </p:sp>
      </p:grpSp>
      <p:sp>
        <p:nvSpPr>
          <p:cNvPr id="1048614" name="TextBox 9"/>
          <p:cNvSpPr txBox="1"/>
          <p:nvPr/>
        </p:nvSpPr>
        <p:spPr>
          <a:xfrm rot="0">
            <a:off x="579120" y="1419330"/>
            <a:ext cx="8676637" cy="2925318"/>
          </a:xfrm>
          <a:prstGeom prst="rect"/>
        </p:spPr>
        <p:txBody>
          <a:bodyPr anchor="t" bIns="0" lIns="0" rIns="0" rtlCol="0" tIns="0">
            <a:spAutoFit/>
          </a:bodyPr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b="1" sz="2133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What is Fitly?</a:t>
            </a: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An AI-powered web app for fitness and meal planning.</a:t>
            </a:r>
          </a:p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b="1" sz="2133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Type</a:t>
            </a: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: Full-stack Web Application.</a:t>
            </a:r>
          </a:p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b="1" sz="2133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Why?</a:t>
            </a: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Current apps offer generic plans or only cover either diet or workouts.</a:t>
            </a:r>
          </a:p>
          <a:p>
            <a:pPr algn="l" indent="-137272" lvl="1" marL="274544">
              <a:lnSpc>
                <a:spcPts val="3839"/>
              </a:lnSpc>
              <a:buFont typeface="Arial"/>
              <a:buChar char="•"/>
            </a:pPr>
            <a:r>
              <a:rPr b="1" sz="2133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How?</a:t>
            </a: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Built using the MERN stack with AI integration via Google Gemini for dynamic planning.</a:t>
            </a:r>
          </a:p>
          <a:p>
            <a:pPr algn="l" indent="-137272" lvl="1" marL="274544">
              <a:lnSpc>
                <a:spcPts val="3839"/>
              </a:lnSpc>
            </a:pPr>
          </a:p>
        </p:txBody>
      </p:sp>
      <p:grpSp>
        <p:nvGrpSpPr>
          <p:cNvPr id="49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15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16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17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52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18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53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19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20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 / Goals</a:t>
              </a:r>
            </a:p>
          </p:txBody>
        </p:sp>
      </p:grpSp>
      <p:sp>
        <p:nvSpPr>
          <p:cNvPr id="1048621" name="TextBox 9"/>
          <p:cNvSpPr txBox="1"/>
          <p:nvPr/>
        </p:nvSpPr>
        <p:spPr>
          <a:xfrm rot="0">
            <a:off x="579120" y="1533630"/>
            <a:ext cx="8676637" cy="364032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095"/>
              </a:lnSpc>
            </a:pPr>
            <a:r>
              <a:rPr b="1" sz="3413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Objectives :</a:t>
            </a:r>
          </a:p>
          <a:p>
            <a:pPr algn="l" indent="-164727" lvl="1" marL="329454">
              <a:lnSpc>
                <a:spcPts val="3071"/>
              </a:lnSpc>
              <a:buFont typeface="Arial"/>
              <a:buChar char="•"/>
            </a:pP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Personalized AI-generated </a:t>
            </a: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meal plans</a:t>
            </a: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.</a:t>
            </a:r>
          </a:p>
          <a:p>
            <a:pPr algn="l" indent="-164727" lvl="1" marL="329454">
              <a:lnSpc>
                <a:spcPts val="3071"/>
              </a:lnSpc>
              <a:buFont typeface="Arial"/>
              <a:buChar char="•"/>
            </a:pP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Tailored </a:t>
            </a: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exercise routines</a:t>
            </a: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based on fitness level.</a:t>
            </a:r>
          </a:p>
          <a:p>
            <a:pPr algn="l" indent="-164727" lvl="1" marL="329454">
              <a:lnSpc>
                <a:spcPts val="3071"/>
              </a:lnSpc>
              <a:buFont typeface="Arial"/>
              <a:buChar char="•"/>
            </a:pP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Progress tracking</a:t>
            </a: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through an interactive dashboard.</a:t>
            </a:r>
          </a:p>
          <a:p>
            <a:pPr algn="l" indent="-164727" lvl="1" marL="329454">
              <a:lnSpc>
                <a:spcPts val="3071"/>
              </a:lnSpc>
              <a:buFont typeface="Arial"/>
              <a:buChar char="•"/>
            </a:pP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Reduce dependency</a:t>
            </a: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on expensive trainers or dietitians.</a:t>
            </a:r>
          </a:p>
          <a:p>
            <a:pPr algn="l" indent="-164727" lvl="1" marL="329454">
              <a:lnSpc>
                <a:spcPts val="3071"/>
              </a:lnSpc>
              <a:buFont typeface="Arial"/>
              <a:buChar char="•"/>
            </a:pP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Foster </a:t>
            </a: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long-term engagement</a:t>
            </a:r>
            <a:r>
              <a:rPr sz="2559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with motivational support.</a:t>
            </a:r>
          </a:p>
          <a:p>
            <a:pPr algn="l" indent="-164727" lvl="1" marL="329454">
              <a:lnSpc>
                <a:spcPts val="4607"/>
              </a:lnSpc>
            </a:pPr>
          </a:p>
          <a:p>
            <a:pPr algn="l" indent="-164727" lvl="1" marL="329454">
              <a:lnSpc>
                <a:spcPts val="4607"/>
              </a:lnSpc>
            </a:pPr>
          </a:p>
        </p:txBody>
      </p:sp>
      <p:grpSp>
        <p:nvGrpSpPr>
          <p:cNvPr id="54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22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23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24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57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25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58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26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27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Requirements</a:t>
              </a:r>
            </a:p>
          </p:txBody>
        </p:sp>
      </p:grpSp>
      <p:sp>
        <p:nvSpPr>
          <p:cNvPr id="1048628" name="TextBox 9"/>
          <p:cNvSpPr txBox="1"/>
          <p:nvPr/>
        </p:nvSpPr>
        <p:spPr>
          <a:xfrm rot="0">
            <a:off x="579120" y="1533630"/>
            <a:ext cx="8676637" cy="5492623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071"/>
              </a:lnSpc>
            </a:pP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Functional :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User Registration and Profile Setup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Meal Plan Generation via Gemini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Workout Plan Generation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Daily Tracking Dashboard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Conversational AI chatbot</a:t>
            </a:r>
          </a:p>
          <a:p>
            <a:pPr algn="l" indent="-164727" lvl="1" marL="329454">
              <a:lnSpc>
                <a:spcPts val="3071"/>
              </a:lnSpc>
            </a:pPr>
            <a:r>
              <a:rPr b="1" sz="2559" i="1" lang="en-US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Non-Functional :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Performance (load ≤ 5s)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Cross-browser &amp; device compatibility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Scalable backend on Render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Secure (JWT, bcrypt)</a:t>
            </a:r>
          </a:p>
          <a:p>
            <a:pPr algn="l" indent="-137272" lvl="1" marL="274544">
              <a:lnSpc>
                <a:spcPts val="2559"/>
              </a:lnSpc>
              <a:buFont typeface="Arial"/>
              <a:buChar char="•"/>
            </a:pPr>
            <a:r>
              <a:rPr sz="2133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Simple, guided UI</a:t>
            </a:r>
          </a:p>
          <a:p>
            <a:pPr algn="l" indent="-137272" lvl="1" marL="274544">
              <a:lnSpc>
                <a:spcPts val="3839"/>
              </a:lnSpc>
            </a:pPr>
          </a:p>
          <a:p>
            <a:pPr algn="l" indent="-137272" lvl="1" marL="274544">
              <a:lnSpc>
                <a:spcPts val="3839"/>
              </a:lnSpc>
            </a:pPr>
          </a:p>
          <a:p>
            <a:pPr algn="l" indent="-137272" lvl="1" marL="274544">
              <a:lnSpc>
                <a:spcPts val="3839"/>
              </a:lnSpc>
            </a:pPr>
          </a:p>
        </p:txBody>
      </p:sp>
      <p:grpSp>
        <p:nvGrpSpPr>
          <p:cNvPr id="59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29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30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31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62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32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63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33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34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Design</a:t>
              </a:r>
            </a:p>
          </p:txBody>
        </p:sp>
      </p:grpSp>
      <p:grpSp>
        <p:nvGrpSpPr>
          <p:cNvPr id="64" name="Group 9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35" name="Freeform 10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36" name="TextBox 11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  <p:grpSp>
        <p:nvGrpSpPr>
          <p:cNvPr id="65" name="Group 12"/>
          <p:cNvGrpSpPr/>
          <p:nvPr/>
        </p:nvGrpSpPr>
        <p:grpSpPr>
          <a:xfrm rot="0">
            <a:off x="1010917" y="1136466"/>
            <a:ext cx="8072123" cy="5768492"/>
            <a:chOff x="0" y="0"/>
            <a:chExt cx="10762831" cy="7691323"/>
          </a:xfrm>
        </p:grpSpPr>
        <p:sp>
          <p:nvSpPr>
            <p:cNvPr id="1048637" name="Freeform 13"/>
            <p:cNvSpPr/>
            <p:nvPr/>
          </p:nvSpPr>
          <p:spPr>
            <a:xfrm rot="0" flipH="0" flipV="0">
              <a:off x="0" y="0"/>
              <a:ext cx="10762869" cy="7691374"/>
            </a:xfrm>
            <a:custGeom>
              <a:avLst/>
              <a:ahLst/>
              <a:rect l="l" t="t" r="r" b="b"/>
              <a:pathLst>
                <a:path w="10762869" h="7691374">
                  <a:moveTo>
                    <a:pt x="0" y="0"/>
                  </a:moveTo>
                  <a:lnTo>
                    <a:pt x="10762869" y="0"/>
                  </a:lnTo>
                  <a:lnTo>
                    <a:pt x="10762869" y="7691374"/>
                  </a:lnTo>
                  <a:lnTo>
                    <a:pt x="0" y="7691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-5221" r="0" b="-5220"/>
              </a:stretch>
            </a:blipFill>
          </p:spPr>
        </p:sp>
      </p:grpSp>
      <p:grpSp>
        <p:nvGrpSpPr>
          <p:cNvPr id="66" name="Group 14"/>
          <p:cNvGrpSpPr/>
          <p:nvPr/>
        </p:nvGrpSpPr>
        <p:grpSpPr>
          <a:xfrm rot="0">
            <a:off x="2844803" y="1139142"/>
            <a:ext cx="3675945" cy="393954"/>
            <a:chOff x="0" y="0"/>
            <a:chExt cx="4901260" cy="525272"/>
          </a:xfrm>
        </p:grpSpPr>
        <p:sp>
          <p:nvSpPr>
            <p:cNvPr id="1048638" name="Freeform 15"/>
            <p:cNvSpPr/>
            <p:nvPr/>
          </p:nvSpPr>
          <p:spPr>
            <a:xfrm rot="0" flipH="0" flipV="0">
              <a:off x="0" y="0"/>
              <a:ext cx="4901311" cy="525272"/>
            </a:xfrm>
            <a:custGeom>
              <a:avLst/>
              <a:ahLst/>
              <a:rect l="l" t="t" r="r" b="b"/>
              <a:pathLst>
                <a:path w="4901311" h="525272">
                  <a:moveTo>
                    <a:pt x="0" y="0"/>
                  </a:moveTo>
                  <a:lnTo>
                    <a:pt x="4901311" y="0"/>
                  </a:lnTo>
                  <a:lnTo>
                    <a:pt x="4901311" y="525272"/>
                  </a:lnTo>
                  <a:lnTo>
                    <a:pt x="0" y="525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39" name="TextBox 16"/>
            <p:cNvSpPr txBox="1"/>
            <p:nvPr/>
          </p:nvSpPr>
          <p:spPr>
            <a:xfrm>
              <a:off x="0" y="-19050"/>
              <a:ext cx="4901260" cy="544322"/>
            </a:xfrm>
            <a:prstGeom prst="rect"/>
          </p:spPr>
          <p:txBody>
            <a:bodyPr anchor="t" bIns="50800" lIns="50800" rIns="50800" rtlCol="0" tIns="50800"/>
            <a:p>
              <a:pPr algn="ctr">
                <a:lnSpc>
                  <a:spcPts val="2304"/>
                </a:lnSpc>
              </a:pPr>
              <a:r>
                <a:rPr sz="1920" i="1" lang="en-US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Usecase Diagram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40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69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41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70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42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43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 Diagram</a:t>
              </a:r>
            </a:p>
          </p:txBody>
        </p:sp>
      </p:grpSp>
      <p:sp>
        <p:nvSpPr>
          <p:cNvPr id="1048644" name="TextBox 9"/>
          <p:cNvSpPr txBox="1"/>
          <p:nvPr/>
        </p:nvSpPr>
        <p:spPr>
          <a:xfrm rot="0">
            <a:off x="579120" y="1428855"/>
            <a:ext cx="8676637" cy="438912"/>
          </a:xfrm>
          <a:prstGeom prst="rect"/>
        </p:spPr>
        <p:txBody>
          <a:bodyPr anchor="t" bIns="0" lIns="0" rIns="0" rtlCol="0" tIns="0">
            <a:spAutoFit/>
          </a:bodyPr>
          <a:p>
            <a:pPr algn="l" indent="-123545" lvl="1" marL="247090">
              <a:lnSpc>
                <a:spcPts val="3456"/>
              </a:lnSpc>
              <a:buFont typeface="Arial"/>
              <a:buChar char="•"/>
            </a:pPr>
            <a:r>
              <a:rPr sz="1920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ER Diagram:</a:t>
            </a:r>
          </a:p>
        </p:txBody>
      </p:sp>
      <p:grpSp>
        <p:nvGrpSpPr>
          <p:cNvPr id="71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45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46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</a:p>
          </p:txBody>
        </p:sp>
      </p:grpSp>
      <p:grpSp>
        <p:nvGrpSpPr>
          <p:cNvPr id="72" name="Group 13"/>
          <p:cNvGrpSpPr/>
          <p:nvPr/>
        </p:nvGrpSpPr>
        <p:grpSpPr>
          <a:xfrm rot="0">
            <a:off x="539510" y="2007545"/>
            <a:ext cx="8755856" cy="4353692"/>
            <a:chOff x="0" y="0"/>
            <a:chExt cx="11674475" cy="5804922"/>
          </a:xfrm>
        </p:grpSpPr>
        <p:sp>
          <p:nvSpPr>
            <p:cNvPr id="1048647" name="Freeform 14"/>
            <p:cNvSpPr/>
            <p:nvPr/>
          </p:nvSpPr>
          <p:spPr>
            <a:xfrm rot="0" flipH="0" flipV="0">
              <a:off x="0" y="0"/>
              <a:ext cx="11674475" cy="5804922"/>
            </a:xfrm>
            <a:custGeom>
              <a:avLst/>
              <a:ahLst/>
              <a:rect l="l" t="t" r="r" b="b"/>
              <a:pathLst>
                <a:path w="11674475" h="5804922">
                  <a:moveTo>
                    <a:pt x="0" y="0"/>
                  </a:moveTo>
                  <a:lnTo>
                    <a:pt x="11674475" y="0"/>
                  </a:lnTo>
                  <a:lnTo>
                    <a:pt x="11674475" y="5804922"/>
                  </a:lnTo>
                  <a:lnTo>
                    <a:pt x="0" y="5804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-867" r="0" b="-86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48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75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49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76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50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51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Design</a:t>
              </a:r>
            </a:p>
          </p:txBody>
        </p:sp>
      </p:grpSp>
      <p:sp>
        <p:nvSpPr>
          <p:cNvPr id="1048652" name="TextBox 9"/>
          <p:cNvSpPr txBox="1"/>
          <p:nvPr/>
        </p:nvSpPr>
        <p:spPr>
          <a:xfrm rot="0">
            <a:off x="579120" y="1419330"/>
            <a:ext cx="8676637" cy="2389124"/>
          </a:xfrm>
          <a:prstGeom prst="rect"/>
        </p:spPr>
        <p:txBody>
          <a:bodyPr anchor="t" bIns="0" lIns="0" rIns="0" rtlCol="0" tIns="0">
            <a:spAutoFit/>
          </a:bodyPr>
          <a:p>
            <a:pPr algn="l" indent="-233755" lvl="2" marL="701264">
              <a:lnSpc>
                <a:spcPts val="3839"/>
              </a:lnSpc>
              <a:buFont typeface="Arial"/>
              <a:buChar char="⚬"/>
            </a:pPr>
            <a:r>
              <a:rPr sz="2133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Design</a:t>
            </a:r>
          </a:p>
          <a:p>
            <a:pPr algn="l" indent="-275133" lvl="3" marL="1100530">
              <a:lnSpc>
                <a:spcPts val="3456"/>
              </a:lnSpc>
              <a:buFont typeface="Arial"/>
              <a:buChar char="￭"/>
            </a:pPr>
            <a:r>
              <a:rPr sz="192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atlas</a:t>
            </a:r>
          </a:p>
          <a:p>
            <a:pPr algn="l" indent="-305702" lvl="3" marL="1222810">
              <a:lnSpc>
                <a:spcPts val="3839"/>
              </a:lnSpc>
            </a:pPr>
          </a:p>
          <a:p>
            <a:pPr algn="l" indent="-305702" lvl="3" marL="1222810">
              <a:lnSpc>
                <a:spcPts val="3839"/>
              </a:lnSpc>
            </a:pPr>
          </a:p>
          <a:p>
            <a:pPr algn="l" indent="-305702" lvl="3" marL="1222810">
              <a:lnSpc>
                <a:spcPts val="3839"/>
              </a:lnSpc>
            </a:pPr>
          </a:p>
        </p:txBody>
      </p:sp>
      <p:grpSp>
        <p:nvGrpSpPr>
          <p:cNvPr id="77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53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54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</a:p>
          </p:txBody>
        </p:sp>
      </p:grpSp>
      <p:sp>
        <p:nvSpPr>
          <p:cNvPr id="1048655" name="TextBox 13"/>
          <p:cNvSpPr txBox="1"/>
          <p:nvPr/>
        </p:nvSpPr>
        <p:spPr>
          <a:xfrm rot="0">
            <a:off x="751837" y="2599058"/>
            <a:ext cx="1686563" cy="29260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304"/>
              </a:lnSpc>
            </a:pPr>
            <a:r>
              <a:rPr sz="192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Blueprint</a:t>
            </a:r>
          </a:p>
        </p:txBody>
      </p:sp>
      <p:grpSp>
        <p:nvGrpSpPr>
          <p:cNvPr id="78" name="Group 15"/>
          <p:cNvGrpSpPr/>
          <p:nvPr/>
        </p:nvGrpSpPr>
        <p:grpSpPr>
          <a:xfrm rot="0">
            <a:off x="4917443" y="5591108"/>
            <a:ext cx="121920" cy="295466"/>
            <a:chOff x="0" y="0"/>
            <a:chExt cx="162560" cy="393954"/>
          </a:xfrm>
        </p:grpSpPr>
        <p:sp>
          <p:nvSpPr>
            <p:cNvPr id="1048657" name="Freeform 16"/>
            <p:cNvSpPr/>
            <p:nvPr/>
          </p:nvSpPr>
          <p:spPr>
            <a:xfrm rot="0" flipH="0" flipV="0">
              <a:off x="0" y="0"/>
              <a:ext cx="162560" cy="393954"/>
            </a:xfrm>
            <a:custGeom>
              <a:avLst/>
              <a:ahLst/>
              <a:rect l="l" t="t" r="r" b="b"/>
              <a:pathLst>
                <a:path w="162560" h="393954">
                  <a:moveTo>
                    <a:pt x="162560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162560" y="393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58" name="TextBox 17"/>
            <p:cNvSpPr txBox="1"/>
            <p:nvPr/>
          </p:nvSpPr>
          <p:spPr>
            <a:xfrm>
              <a:off x="0" y="-28575"/>
              <a:ext cx="162560" cy="422529"/>
            </a:xfrm>
            <a:prstGeom prst="rect"/>
          </p:spPr>
          <p:txBody>
            <a:bodyPr anchor="t" bIns="50800" lIns="50800" rIns="50800" rtlCol="0" tIns="50800"/>
            <a:p>
              <a:pPr algn="l">
                <a:lnSpc>
                  <a:spcPts val="1536"/>
                </a:lnSpc>
              </a:pPr>
              <a:r>
                <a:rPr sz="128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3141226" y="1552574"/>
            <a:ext cx="6313558" cy="5252401"/>
          </a:xfrm>
          <a:prstGeom prst="rect"/>
        </p:spPr>
      </p:pic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59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81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60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82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61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62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FrontEnd Design</a:t>
              </a:r>
            </a:p>
          </p:txBody>
        </p:sp>
      </p:grpSp>
      <p:sp>
        <p:nvSpPr>
          <p:cNvPr id="1048663" name="TextBox 9"/>
          <p:cNvSpPr txBox="1"/>
          <p:nvPr/>
        </p:nvSpPr>
        <p:spPr>
          <a:xfrm rot="0">
            <a:off x="579120" y="1438380"/>
            <a:ext cx="8676637" cy="156057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072"/>
              </a:lnSpc>
            </a:pPr>
            <a:r>
              <a:rPr sz="1706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Landing Page.</a:t>
            </a: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</p:txBody>
      </p:sp>
      <p:grpSp>
        <p:nvGrpSpPr>
          <p:cNvPr id="83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64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65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grpSp>
        <p:nvGrpSpPr>
          <p:cNvPr id="84" name="Group 13"/>
          <p:cNvGrpSpPr/>
          <p:nvPr/>
        </p:nvGrpSpPr>
        <p:grpSpPr>
          <a:xfrm rot="0">
            <a:off x="129330" y="2234536"/>
            <a:ext cx="9494939" cy="4410104"/>
            <a:chOff x="0" y="0"/>
            <a:chExt cx="12659919" cy="5880138"/>
          </a:xfrm>
        </p:grpSpPr>
        <p:sp>
          <p:nvSpPr>
            <p:cNvPr id="1048666" name="Freeform 14"/>
            <p:cNvSpPr/>
            <p:nvPr/>
          </p:nvSpPr>
          <p:spPr>
            <a:xfrm rot="0" flipH="0" flipV="0">
              <a:off x="0" y="0"/>
              <a:ext cx="12659868" cy="5880100"/>
            </a:xfrm>
            <a:custGeom>
              <a:avLst/>
              <a:ahLst/>
              <a:rect l="l" t="t" r="r" b="b"/>
              <a:pathLst>
                <a:path w="12659868" h="5880100">
                  <a:moveTo>
                    <a:pt x="0" y="0"/>
                  </a:moveTo>
                  <a:lnTo>
                    <a:pt x="12659868" y="0"/>
                  </a:lnTo>
                  <a:lnTo>
                    <a:pt x="12659868" y="5880100"/>
                  </a:lnTo>
                  <a:lnTo>
                    <a:pt x="0" y="588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67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87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68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88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69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70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FrontEnd Design</a:t>
              </a:r>
            </a:p>
          </p:txBody>
        </p:sp>
      </p:grpSp>
      <p:sp>
        <p:nvSpPr>
          <p:cNvPr id="1048671" name="TextBox 9"/>
          <p:cNvSpPr txBox="1"/>
          <p:nvPr/>
        </p:nvSpPr>
        <p:spPr>
          <a:xfrm rot="0">
            <a:off x="579120" y="1438380"/>
            <a:ext cx="8676637" cy="156057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072"/>
              </a:lnSpc>
            </a:pPr>
            <a:r>
              <a:rPr sz="1706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2 : Dashboard .</a:t>
            </a: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</p:txBody>
      </p:sp>
      <p:grpSp>
        <p:nvGrpSpPr>
          <p:cNvPr id="89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72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73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grpSp>
        <p:nvGrpSpPr>
          <p:cNvPr id="90" name="Group 13"/>
          <p:cNvGrpSpPr/>
          <p:nvPr/>
        </p:nvGrpSpPr>
        <p:grpSpPr>
          <a:xfrm rot="0">
            <a:off x="116738" y="2292782"/>
            <a:ext cx="9520133" cy="4400883"/>
            <a:chOff x="0" y="0"/>
            <a:chExt cx="12693510" cy="5867844"/>
          </a:xfrm>
        </p:grpSpPr>
        <p:sp>
          <p:nvSpPr>
            <p:cNvPr id="1048674" name="Freeform 14"/>
            <p:cNvSpPr/>
            <p:nvPr/>
          </p:nvSpPr>
          <p:spPr>
            <a:xfrm rot="0" flipH="0" flipV="0">
              <a:off x="0" y="0"/>
              <a:ext cx="12693523" cy="5867781"/>
            </a:xfrm>
            <a:custGeom>
              <a:avLst/>
              <a:ahLst/>
              <a:rect l="l" t="t" r="r" b="b"/>
              <a:pathLst>
                <a:path w="12693523" h="5867781">
                  <a:moveTo>
                    <a:pt x="0" y="0"/>
                  </a:moveTo>
                  <a:lnTo>
                    <a:pt x="12693523" y="0"/>
                  </a:lnTo>
                  <a:lnTo>
                    <a:pt x="12693523" y="5867781"/>
                  </a:lnTo>
                  <a:lnTo>
                    <a:pt x="0" y="5867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-1293" r="0" b="-129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75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93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76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94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77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78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FrontEnd Design</a:t>
              </a:r>
            </a:p>
          </p:txBody>
        </p:sp>
      </p:grpSp>
      <p:sp>
        <p:nvSpPr>
          <p:cNvPr id="1048679" name="TextBox 9"/>
          <p:cNvSpPr txBox="1"/>
          <p:nvPr/>
        </p:nvSpPr>
        <p:spPr>
          <a:xfrm rot="0">
            <a:off x="579120" y="1438380"/>
            <a:ext cx="8676637" cy="156057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072"/>
              </a:lnSpc>
            </a:pPr>
            <a:r>
              <a:rPr sz="1706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3 : Features.</a:t>
            </a: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</p:txBody>
      </p:sp>
      <p:grpSp>
        <p:nvGrpSpPr>
          <p:cNvPr id="95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80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81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  <p:grpSp>
        <p:nvGrpSpPr>
          <p:cNvPr id="96" name="Group 13"/>
          <p:cNvGrpSpPr/>
          <p:nvPr/>
        </p:nvGrpSpPr>
        <p:grpSpPr>
          <a:xfrm rot="0">
            <a:off x="106566" y="2113283"/>
            <a:ext cx="9536516" cy="4401474"/>
            <a:chOff x="0" y="0"/>
            <a:chExt cx="12715354" cy="5868632"/>
          </a:xfrm>
        </p:grpSpPr>
        <p:sp>
          <p:nvSpPr>
            <p:cNvPr id="1048682" name="Freeform 14"/>
            <p:cNvSpPr/>
            <p:nvPr/>
          </p:nvSpPr>
          <p:spPr>
            <a:xfrm rot="0" flipH="0" flipV="0">
              <a:off x="0" y="0"/>
              <a:ext cx="12715367" cy="5868670"/>
            </a:xfrm>
            <a:custGeom>
              <a:avLst/>
              <a:ahLst/>
              <a:rect l="l" t="t" r="r" b="b"/>
              <a:pathLst>
                <a:path w="12715367" h="5868670">
                  <a:moveTo>
                    <a:pt x="0" y="0"/>
                  </a:moveTo>
                  <a:lnTo>
                    <a:pt x="12715367" y="0"/>
                  </a:lnTo>
                  <a:lnTo>
                    <a:pt x="12715367" y="5868670"/>
                  </a:lnTo>
                  <a:lnTo>
                    <a:pt x="0" y="586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83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99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84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100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85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86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FrontEnd Design</a:t>
              </a:r>
            </a:p>
          </p:txBody>
        </p:sp>
      </p:grpSp>
      <p:sp>
        <p:nvSpPr>
          <p:cNvPr id="1048687" name="TextBox 9"/>
          <p:cNvSpPr txBox="1"/>
          <p:nvPr/>
        </p:nvSpPr>
        <p:spPr>
          <a:xfrm rot="0">
            <a:off x="579120" y="1438380"/>
            <a:ext cx="8676637" cy="518085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072"/>
              </a:lnSpc>
            </a:pPr>
            <a:r>
              <a:rPr sz="1706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4 : Exercise Planner.</a:t>
            </a: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</p:txBody>
      </p:sp>
      <p:grpSp>
        <p:nvGrpSpPr>
          <p:cNvPr id="101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88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89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</a:p>
          </p:txBody>
        </p:sp>
      </p:grpSp>
      <p:grpSp>
        <p:nvGrpSpPr>
          <p:cNvPr id="102" name="Group 13"/>
          <p:cNvGrpSpPr/>
          <p:nvPr/>
        </p:nvGrpSpPr>
        <p:grpSpPr>
          <a:xfrm rot="0">
            <a:off x="1375277" y="1862747"/>
            <a:ext cx="7084333" cy="5075463"/>
            <a:chOff x="0" y="0"/>
            <a:chExt cx="9445777" cy="6767284"/>
          </a:xfrm>
        </p:grpSpPr>
        <p:sp>
          <p:nvSpPr>
            <p:cNvPr id="1048690" name="Freeform 14"/>
            <p:cNvSpPr/>
            <p:nvPr/>
          </p:nvSpPr>
          <p:spPr>
            <a:xfrm rot="0" flipH="0" flipV="0">
              <a:off x="0" y="0"/>
              <a:ext cx="9445752" cy="6767322"/>
            </a:xfrm>
            <a:custGeom>
              <a:avLst/>
              <a:ahLst/>
              <a:rect l="l" t="t" r="r" b="b"/>
              <a:pathLst>
                <a:path w="9445752" h="6767322">
                  <a:moveTo>
                    <a:pt x="0" y="0"/>
                  </a:moveTo>
                  <a:lnTo>
                    <a:pt x="9445752" y="0"/>
                  </a:lnTo>
                  <a:lnTo>
                    <a:pt x="9445752" y="6767322"/>
                  </a:lnTo>
                  <a:lnTo>
                    <a:pt x="0" y="6767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91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105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692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106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693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694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FrontEnd Design</a:t>
              </a:r>
            </a:p>
          </p:txBody>
        </p:sp>
      </p:grpSp>
      <p:sp>
        <p:nvSpPr>
          <p:cNvPr id="1048695" name="TextBox 9"/>
          <p:cNvSpPr txBox="1"/>
          <p:nvPr/>
        </p:nvSpPr>
        <p:spPr>
          <a:xfrm rot="0">
            <a:off x="579120" y="1438380"/>
            <a:ext cx="8676637" cy="518085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072"/>
              </a:lnSpc>
            </a:pPr>
            <a:r>
              <a:rPr sz="1706" i="1" lang="en-US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5 : Meal Planner.</a:t>
            </a: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  <a:p>
            <a:pPr algn="l">
              <a:lnSpc>
                <a:spcPts val="3072"/>
              </a:lnSpc>
            </a:pPr>
          </a:p>
        </p:txBody>
      </p:sp>
      <p:grpSp>
        <p:nvGrpSpPr>
          <p:cNvPr id="107" name="Group 10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696" name="Freeform 11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697" name="TextBox 12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</a:p>
          </p:txBody>
        </p:sp>
      </p:grpSp>
      <p:grpSp>
        <p:nvGrpSpPr>
          <p:cNvPr id="108" name="Group 13"/>
          <p:cNvGrpSpPr/>
          <p:nvPr/>
        </p:nvGrpSpPr>
        <p:grpSpPr>
          <a:xfrm rot="0">
            <a:off x="1463040" y="1860175"/>
            <a:ext cx="7338565" cy="4941418"/>
            <a:chOff x="0" y="0"/>
            <a:chExt cx="9784753" cy="6588557"/>
          </a:xfrm>
        </p:grpSpPr>
        <p:sp>
          <p:nvSpPr>
            <p:cNvPr id="1048698" name="Freeform 14"/>
            <p:cNvSpPr/>
            <p:nvPr/>
          </p:nvSpPr>
          <p:spPr>
            <a:xfrm rot="0" flipH="0" flipV="0">
              <a:off x="0" y="0"/>
              <a:ext cx="9784715" cy="6588506"/>
            </a:xfrm>
            <a:custGeom>
              <a:avLst/>
              <a:ahLst/>
              <a:rect l="l" t="t" r="r" b="b"/>
              <a:pathLst>
                <a:path w="9784715" h="6588506">
                  <a:moveTo>
                    <a:pt x="0" y="0"/>
                  </a:moveTo>
                  <a:lnTo>
                    <a:pt x="9784715" y="0"/>
                  </a:lnTo>
                  <a:lnTo>
                    <a:pt x="9784715" y="6588506"/>
                  </a:lnTo>
                  <a:lnTo>
                    <a:pt x="0" y="658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699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111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700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112" name="Group 6"/>
          <p:cNvGrpSpPr/>
          <p:nvPr/>
        </p:nvGrpSpPr>
        <p:grpSpPr>
          <a:xfrm rot="0">
            <a:off x="670560" y="16221"/>
            <a:ext cx="8412480" cy="1122921"/>
            <a:chOff x="0" y="0"/>
            <a:chExt cx="11216640" cy="1497228"/>
          </a:xfrm>
        </p:grpSpPr>
        <p:sp>
          <p:nvSpPr>
            <p:cNvPr id="1048701" name="Freeform 7"/>
            <p:cNvSpPr/>
            <p:nvPr/>
          </p:nvSpPr>
          <p:spPr>
            <a:xfrm rot="0" flipH="0" flipV="0">
              <a:off x="0" y="0"/>
              <a:ext cx="11216640" cy="1497226"/>
            </a:xfrm>
            <a:custGeom>
              <a:avLst/>
              <a:ahLst/>
              <a:rect l="l" t="t" r="r" b="b"/>
              <a:pathLst>
                <a:path w="11216640" h="1497226">
                  <a:moveTo>
                    <a:pt x="0" y="0"/>
                  </a:moveTo>
                  <a:lnTo>
                    <a:pt x="11216640" y="0"/>
                  </a:lnTo>
                  <a:lnTo>
                    <a:pt x="11216640" y="1497226"/>
                  </a:lnTo>
                  <a:lnTo>
                    <a:pt x="0" y="1497226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5974" r="0" b="-95974"/>
              </a:stretch>
            </a:blipFill>
          </p:spPr>
        </p:sp>
        <p:sp>
          <p:nvSpPr>
            <p:cNvPr id="1048702" name="TextBox 8"/>
            <p:cNvSpPr txBox="1"/>
            <p:nvPr/>
          </p:nvSpPr>
          <p:spPr>
            <a:xfrm>
              <a:off x="0" y="-19050"/>
              <a:ext cx="11216640" cy="1516278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5120"/>
                </a:lnSpc>
              </a:pPr>
              <a:r>
                <a:rPr sz="4266" lang="en-US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Contributions</a:t>
              </a:r>
            </a:p>
          </p:txBody>
        </p:sp>
      </p:grpSp>
      <p:grpSp>
        <p:nvGrpSpPr>
          <p:cNvPr id="113" name="Group 9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703" name="Freeform 10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704" name="TextBox 11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</a:p>
          </p:txBody>
        </p:sp>
      </p:grpSp>
      <p:grpSp>
        <p:nvGrpSpPr>
          <p:cNvPr id="114" name="Group 12"/>
          <p:cNvGrpSpPr/>
          <p:nvPr/>
        </p:nvGrpSpPr>
        <p:grpSpPr>
          <a:xfrm rot="0">
            <a:off x="447037" y="1673057"/>
            <a:ext cx="8859517" cy="2396557"/>
            <a:chOff x="0" y="0"/>
            <a:chExt cx="11812689" cy="3195409"/>
          </a:xfrm>
        </p:grpSpPr>
        <p:sp>
          <p:nvSpPr>
            <p:cNvPr id="1048705" name="Freeform 13"/>
            <p:cNvSpPr/>
            <p:nvPr/>
          </p:nvSpPr>
          <p:spPr>
            <a:xfrm rot="0" flipH="0" flipV="0">
              <a:off x="0" y="0"/>
              <a:ext cx="11812694" cy="3195405"/>
            </a:xfrm>
            <a:custGeom>
              <a:avLst/>
              <a:ahLst/>
              <a:rect l="l" t="t" r="r" b="b"/>
              <a:pathLst>
                <a:path w="11812694" h="3195405">
                  <a:moveTo>
                    <a:pt x="0" y="0"/>
                  </a:moveTo>
                  <a:lnTo>
                    <a:pt x="11812694" y="0"/>
                  </a:lnTo>
                  <a:lnTo>
                    <a:pt x="11812694" y="3195405"/>
                  </a:lnTo>
                  <a:lnTo>
                    <a:pt x="0" y="3195405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22031" r="0" b="-22031"/>
              </a:stretch>
            </a:blipFill>
          </p:spPr>
        </p:sp>
        <p:sp>
          <p:nvSpPr>
            <p:cNvPr id="1048706" name="TextBox 14"/>
            <p:cNvSpPr txBox="1"/>
            <p:nvPr/>
          </p:nvSpPr>
          <p:spPr>
            <a:xfrm>
              <a:off x="0" y="-19050"/>
              <a:ext cx="11812689" cy="3214459"/>
            </a:xfrm>
            <a:prstGeom prst="rect"/>
          </p:spPr>
          <p:txBody>
            <a:bodyPr anchor="ctr" bIns="0" lIns="0" rIns="0" rtlCol="0" tIns="0"/>
            <a:p>
              <a:pPr algn="l" indent="-192181" lvl="1" marL="384363">
                <a:lnSpc>
                  <a:spcPts val="3583"/>
                </a:lnSpc>
                <a:buFont typeface="Arial"/>
                <a:buChar char="•"/>
              </a:pPr>
              <a:r>
                <a:rPr sz="2986" i="1" lang="en-US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Functional AI-based </a:t>
              </a:r>
              <a:r>
                <a:rPr b="1" sz="2986" i="1" lang="en-US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meal/workout planner</a:t>
              </a:r>
            </a:p>
            <a:p>
              <a:pPr algn="l" indent="-192181" lvl="1" marL="384363">
                <a:lnSpc>
                  <a:spcPts val="3583"/>
                </a:lnSpc>
                <a:buFont typeface="Arial"/>
                <a:buChar char="•"/>
              </a:pPr>
              <a:r>
                <a:rPr sz="2986" i="1" lang="en-US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Fully responsive </a:t>
              </a:r>
              <a:r>
                <a:rPr b="1" sz="2986" i="1" lang="en-US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dashboard with charts</a:t>
              </a:r>
            </a:p>
            <a:p>
              <a:pPr algn="l" indent="-192181" lvl="1" marL="384363">
                <a:lnSpc>
                  <a:spcPts val="3583"/>
                </a:lnSpc>
                <a:buFont typeface="Arial"/>
                <a:buChar char="•"/>
              </a:pPr>
              <a:r>
                <a:rPr sz="2986" i="1" lang="en-US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Integrated </a:t>
              </a:r>
              <a:r>
                <a:rPr b="1" sz="2986" i="1" lang="en-US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Google Gemini API</a:t>
              </a:r>
            </a:p>
            <a:p>
              <a:pPr algn="l" indent="-192181" lvl="1" marL="384363">
                <a:lnSpc>
                  <a:spcPts val="3583"/>
                </a:lnSpc>
                <a:buFont typeface="Arial"/>
                <a:buChar char="•"/>
              </a:pPr>
              <a:r>
                <a:rPr b="1" sz="2986" i="1" lang="en-US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Secure authentication</a:t>
              </a:r>
              <a:r>
                <a:rPr sz="2986" i="1" lang="en-US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 (JWT + bcrypt)</a:t>
              </a:r>
            </a:p>
            <a:p>
              <a:pPr algn="l" indent="-192181" lvl="1" marL="384363">
                <a:lnSpc>
                  <a:spcPts val="3583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2"/>
          <p:cNvGrpSpPr/>
          <p:nvPr/>
        </p:nvGrpSpPr>
        <p:grpSpPr>
          <a:xfrm rot="0">
            <a:off x="2972" y="6938220"/>
            <a:ext cx="9750628" cy="389468"/>
            <a:chOff x="0" y="0"/>
            <a:chExt cx="13000838" cy="519290"/>
          </a:xfrm>
        </p:grpSpPr>
        <p:sp>
          <p:nvSpPr>
            <p:cNvPr id="1048707" name="Freeform 3"/>
            <p:cNvSpPr/>
            <p:nvPr/>
          </p:nvSpPr>
          <p:spPr>
            <a:xfrm rot="0" flipH="0" flipV="0">
              <a:off x="0" y="0"/>
              <a:ext cx="13000863" cy="519303"/>
            </a:xfrm>
            <a:custGeom>
              <a:avLst/>
              <a:ahLst/>
              <a:rect l="l" t="t" r="r" b="b"/>
              <a:pathLst>
                <a:path w="13000863" h="519303">
                  <a:moveTo>
                    <a:pt x="0" y="0"/>
                  </a:moveTo>
                  <a:lnTo>
                    <a:pt x="13000863" y="0"/>
                  </a:lnTo>
                  <a:lnTo>
                    <a:pt x="13000863" y="519303"/>
                  </a:lnTo>
                  <a:lnTo>
                    <a:pt x="0" y="519303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id="117" name="Group 4"/>
          <p:cNvGrpSpPr/>
          <p:nvPr/>
        </p:nvGrpSpPr>
        <p:grpSpPr>
          <a:xfrm rot="0">
            <a:off x="-14030" y="-13545"/>
            <a:ext cx="9777717" cy="1150010"/>
            <a:chOff x="0" y="0"/>
            <a:chExt cx="13036956" cy="1533347"/>
          </a:xfrm>
        </p:grpSpPr>
        <p:sp>
          <p:nvSpPr>
            <p:cNvPr id="1048708" name="Freeform 5"/>
            <p:cNvSpPr/>
            <p:nvPr/>
          </p:nvSpPr>
          <p:spPr>
            <a:xfrm rot="0" flipH="0" flipV="0">
              <a:off x="0" y="0"/>
              <a:ext cx="13036931" cy="1533398"/>
            </a:xfrm>
            <a:custGeom>
              <a:avLst/>
              <a:ahLst/>
              <a:rect l="l" t="t" r="r" b="b"/>
              <a:pathLst>
                <a:path w="13036931" h="1533398">
                  <a:moveTo>
                    <a:pt x="0" y="0"/>
                  </a:moveTo>
                  <a:lnTo>
                    <a:pt x="13036931" y="0"/>
                  </a:lnTo>
                  <a:lnTo>
                    <a:pt x="13036931" y="1533398"/>
                  </a:lnTo>
                  <a:lnTo>
                    <a:pt x="0" y="1533398"/>
                  </a:lnTo>
                  <a:close/>
                </a:path>
              </a:pathLst>
            </a:custGeom>
            <a:solidFill>
              <a:srgbClr val="002060"/>
            </a:solidFill>
            <a:ln w="27093" cap="sq">
              <a:solidFill>
                <a:srgbClr val="385D8A"/>
              </a:solidFill>
              <a:prstDash val="solid"/>
              <a:miter/>
            </a:ln>
          </p:spPr>
        </p:sp>
      </p:grpSp>
      <p:grpSp>
        <p:nvGrpSpPr>
          <p:cNvPr id="118" name="Group 6"/>
          <p:cNvGrpSpPr/>
          <p:nvPr/>
        </p:nvGrpSpPr>
        <p:grpSpPr>
          <a:xfrm rot="0">
            <a:off x="7555582" y="6909511"/>
            <a:ext cx="2194560" cy="389468"/>
            <a:chOff x="0" y="0"/>
            <a:chExt cx="2926080" cy="519290"/>
          </a:xfrm>
        </p:grpSpPr>
        <p:sp>
          <p:nvSpPr>
            <p:cNvPr id="1048709" name="Freeform 7"/>
            <p:cNvSpPr/>
            <p:nvPr/>
          </p:nvSpPr>
          <p:spPr>
            <a:xfrm rot="0" flipH="0" flipV="0">
              <a:off x="0" y="0"/>
              <a:ext cx="2926080" cy="519289"/>
            </a:xfrm>
            <a:custGeom>
              <a:avLst/>
              <a:ahLst/>
              <a:rect l="l" t="t" r="r" b="b"/>
              <a:pathLst>
                <a:path w="2926080" h="519289">
                  <a:moveTo>
                    <a:pt x="0" y="0"/>
                  </a:moveTo>
                  <a:lnTo>
                    <a:pt x="2926080" y="0"/>
                  </a:lnTo>
                  <a:lnTo>
                    <a:pt x="2926080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59793" r="0" b="-59794"/>
              </a:stretch>
            </a:blipFill>
          </p:spPr>
        </p:sp>
        <p:sp>
          <p:nvSpPr>
            <p:cNvPr id="1048710" name="TextBox 8"/>
            <p:cNvSpPr txBox="1"/>
            <p:nvPr/>
          </p:nvSpPr>
          <p:spPr>
            <a:xfrm>
              <a:off x="0" y="-19050"/>
              <a:ext cx="2926080" cy="53834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304"/>
                </a:lnSpc>
              </a:pPr>
              <a:r>
                <a:rPr sz="1920" lang="en-US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</a:p>
          </p:txBody>
        </p:sp>
      </p:grpSp>
      <p:sp>
        <p:nvSpPr>
          <p:cNvPr id="1048711" name="TextBox 9"/>
          <p:cNvSpPr txBox="1"/>
          <p:nvPr/>
        </p:nvSpPr>
        <p:spPr>
          <a:xfrm rot="0">
            <a:off x="1702643" y="2874899"/>
            <a:ext cx="6348314" cy="2268857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9079"/>
              </a:lnSpc>
              <a:spcBef>
                <a:spcPct val="0"/>
              </a:spcBef>
            </a:pPr>
            <a:r>
              <a:rPr b="1" sz="10599" lang="en-US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Fitly External PPT.pptx</dc:title>
  <dc:creator>23090RA98G</dc:creator>
  <dcterms:created xsi:type="dcterms:W3CDTF">2006-08-15T12:30:00Z</dcterms:created>
  <dcterms:modified xsi:type="dcterms:W3CDTF">2026-10-11T08:12:03Z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855325782b6a42fb89434ed133773db2</vt:lpwstr>
  </property>
</Properties>
</file>